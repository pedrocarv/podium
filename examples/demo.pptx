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everyone. Today: what shipped in Aurora 2.0, how people use it, and what's next.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Four headline features. Offline mode was the most requested item in last year's survey.</a:t>
            </a:r>
          </a:p>
          <a:p>
            <a:r>
              <a:rPr lang="en-US"/>
              <a:t>Pause on the sync number: it's measured on the median device.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Growth accelerated after the widgets landed in week 4. Week 6 is our best week ever.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Everything critical shipped. Tablet layout moved to the next sprint after design review.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5528-21DE-4FAA-801E-634DDDAF4B2B}" type="datetimeFigureOut">
              <a:rPr lang="en-US"/>
              <a:t>1/1/2026</a:t>
            </a:fld>
            <a:endParaRPr lang="en-US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5528-21DE-4FAA-801E-634DDDAF4B2B}" type="datetimeFigureOut">
              <a:rPr lang="en-US"/>
              <a:t>1/1/2026</a:t>
            </a:fld>
            <a:endParaRPr lang="en-US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5528-21DE-4FAA-801E-634DDDAF4B2B}" type="datetimeFigureOut">
              <a:rPr lang="en-US"/>
              <a:t>1/1/2026</a:t>
            </a:fld>
            <a:endParaRPr lang="en-US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5528-21DE-4FAA-801E-634DDDAF4B2B}" type="datetimeFigureOut">
              <a:rPr lang="en-US"/>
              <a:t>1/1/2026</a:t>
            </a:fld>
            <a:endParaRPr lang="en-US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5528-21DE-4FAA-801E-634DDDAF4B2B}" type="datetimeFigureOut">
              <a:rPr lang="en-US"/>
              <a:t>1/1/2026</a:t>
            </a:fld>
            <a:endParaRPr lang="en-US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5528-21DE-4FAA-801E-634DDDAF4B2B}" type="datetimeFigureOut">
              <a:rPr lang="en-US"/>
              <a:t>1/1/2026</a:t>
            </a:fld>
            <a:endParaRPr lang="en-US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/>
          <p:nvPr/>
        </p:nvSpPr>
        <p:spPr>
          <a:xfrm>
            <a:off x="8128000" y="-1524000"/>
            <a:ext cx="5842000" cy="5842000"/>
          </a:xfrm>
          <a:prstGeom prst="ellipse">
            <a:avLst/>
          </a:prstGeom>
          <a:solidFill>
            <a:srgbClr val="5B5FE8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3" name="Oval 3"/>
          <p:cNvSpPr/>
          <p:nvPr/>
        </p:nvSpPr>
        <p:spPr>
          <a:xfrm>
            <a:off x="10033000" y="3175000"/>
            <a:ext cx="3302000" cy="3302000"/>
          </a:xfrm>
          <a:prstGeom prst="ellipse">
            <a:avLst/>
          </a:prstGeom>
          <a:solidFill>
            <a:srgbClr val="FF8A3D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Donut 4"/>
          <p:cNvSpPr/>
          <p:nvPr/>
        </p:nvSpPr>
        <p:spPr>
          <a:xfrm>
            <a:off x="7112000" y="4191000"/>
            <a:ext cx="1524000" cy="1524000"/>
          </a:xfrm>
          <a:prstGeom prst="donut">
            <a:avLst/>
          </a:prstGeom>
          <a:solidFill>
            <a:srgbClr val="2A2E57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12800" y="1905000"/>
            <a:ext cx="762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 i="0" u="none" strike="noStrike" dirty="0">
                <a:solidFill>
                  <a:srgbClr val="FFFFFF"/>
                </a:solidFill>
                <a:latin typeface="Roboto"/>
                <a:cs typeface="Roboto"/>
              </a:rPr>
              <a:t>Aurora 2.0</a:t>
            </a:r>
            <a:endParaRPr sz="7200" b="1" i="0" u="none" strike="noStrike" dirty="0">
              <a:solidFill>
                <a:srgbClr val="FFFFFF"/>
              </a:solidFill>
              <a:latin typeface="Roboto"/>
              <a:cs typeface="Robo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63600" y="3327400"/>
            <a:ext cx="7112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 i="0" u="none" strike="noStrike" dirty="0">
                <a:solidFill>
                  <a:srgbClr val="A5B4FC"/>
                </a:solidFill>
                <a:latin typeface="Roboto"/>
                <a:cs typeface="Roboto"/>
              </a:rPr>
              <a:t>Spring launch review</a:t>
            </a:r>
            <a:endParaRPr sz="2600" b="0" i="0" u="none" strike="noStrike" dirty="0">
              <a:solidFill>
                <a:srgbClr val="A5B4FC"/>
              </a:solidFill>
              <a:latin typeface="Roboto"/>
              <a:cs typeface="Robo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63600" y="5715000"/>
            <a:ext cx="508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dirty="0">
                <a:solidFill>
                  <a:srgbClr val="6B7280"/>
                </a:solidFill>
                <a:latin typeface="Roboto"/>
                <a:cs typeface="Roboto"/>
              </a:rPr>
              <a:t>Product team  ·  March 2026</a:t>
            </a:r>
            <a:endParaRPr sz="1400" b="0" i="0" u="none" strike="noStrike" dirty="0">
              <a:solidFill>
                <a:srgbClr val="6B7280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2800" y="609600"/>
            <a:ext cx="762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What we shipped</a:t>
            </a:r>
            <a:endParaRPr sz="3800" b="1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12800" y="1651000"/>
            <a:ext cx="6604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330200" indent="-330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8A3D"/>
              </a:buClr>
              <a:buChar char="•"/>
            </a:pPr>
            <a:r>
              <a:rPr sz="2600" b="0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Offline mode with background sync</a:t>
            </a:r>
            <a:endParaRPr sz="2600" b="0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  <a:p>
            <a:pPr marL="330200" indent="-330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8A3D"/>
              </a:buClr>
              <a:buChar char="•"/>
            </a:pPr>
            <a:r>
              <a:rPr sz="2600" b="0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Redesigned forecast timeline</a:t>
            </a:r>
            <a:endParaRPr sz="2600" b="0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  <a:p>
            <a:pPr marL="330200" indent="-330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8A3D"/>
              </a:buClr>
              <a:buChar char="•"/>
            </a:pPr>
            <a:r>
              <a:rPr sz="2600" b="0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Home-screen widgets for every size</a:t>
            </a:r>
            <a:endParaRPr sz="2600" b="0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  <a:p>
            <a:pPr marL="330200" indent="-330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8A3D"/>
              </a:buClr>
              <a:buChar char="•"/>
            </a:pPr>
            <a:r>
              <a:rPr sz="2600" b="0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Severe-weather alerts in 40 countries</a:t>
            </a:r>
            <a:endParaRPr sz="2600" b="0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</p:txBody>
      </p:sp>
      <p:sp>
        <p:nvSpPr>
          <p:cNvPr id="4" name="Rounded Rectangle 4"/>
          <p:cNvSpPr/>
          <p:nvPr/>
        </p:nvSpPr>
        <p:spPr>
          <a:xfrm>
            <a:off x="8128000" y="1651000"/>
            <a:ext cx="3251200" cy="3810000"/>
          </a:xfrm>
          <a:prstGeom prst="roundRect">
            <a:avLst>
              <a:gd name="adj" fmla="val 8000"/>
            </a:avLst>
          </a:prstGeom>
          <a:solidFill>
            <a:srgbClr val="5B5FE8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255000" y="2413000"/>
            <a:ext cx="29972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0" b="1" i="0" u="none" strike="noStrike" dirty="0">
                <a:solidFill>
                  <a:srgbClr val="FFFFFF"/>
                </a:solidFill>
                <a:latin typeface="Roboto"/>
                <a:cs typeface="Roboto"/>
              </a:rPr>
              <a:t>3×</a:t>
            </a:r>
            <a:endParaRPr sz="8800" b="1" i="0" u="none" strike="noStrike" dirty="0">
              <a:solidFill>
                <a:srgbClr val="FFFFFF"/>
              </a:solidFill>
              <a:latin typeface="Roboto"/>
              <a:cs typeface="Robo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82000" y="4064000"/>
            <a:ext cx="27432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strike="noStrike" dirty="0">
                <a:solidFill>
                  <a:srgbClr val="A5B4FC"/>
                </a:solidFill>
                <a:latin typeface="Roboto"/>
                <a:cs typeface="Roboto"/>
              </a:rPr>
              <a:t>faster sync than</a:t>
            </a:r>
            <a:endParaRPr sz="2000" b="0" i="0" u="none" strike="noStrike" dirty="0">
              <a:solidFill>
                <a:srgbClr val="A5B4FC"/>
              </a:solidFill>
              <a:latin typeface="Roboto"/>
              <a:cs typeface="Roboto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strike="noStrike" dirty="0">
                <a:solidFill>
                  <a:srgbClr val="A5B4FC"/>
                </a:solidFill>
                <a:latin typeface="Roboto"/>
                <a:cs typeface="Roboto"/>
              </a:rPr>
              <a:t>Aurora 1.x</a:t>
            </a:r>
            <a:endParaRPr sz="2000" b="0" i="0" u="none" strike="noStrike" dirty="0">
              <a:solidFill>
                <a:srgbClr val="A5B4FC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2800" y="609600"/>
            <a:ext cx="889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Weekly active users</a:t>
            </a:r>
            <a:endParaRPr sz="3800" b="1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12800" y="1270000"/>
            <a:ext cx="889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strike="noStrike" dirty="0">
                <a:solidFill>
                  <a:srgbClr val="6B7280"/>
                </a:solidFill>
                <a:latin typeface="Roboto"/>
                <a:cs typeface="Roboto"/>
              </a:rPr>
              <a:t>Thousands, first six weeks after launch</a:t>
            </a:r>
            <a:endParaRPr sz="1600" b="0" i="0" u="none" strike="noStrike" dirty="0">
              <a:solidFill>
                <a:srgbClr val="6B7280"/>
              </a:solidFill>
              <a:latin typeface="Roboto"/>
              <a:cs typeface="Roboto"/>
            </a:endParaRPr>
          </a:p>
        </p:txBody>
      </p:sp>
      <p:sp>
        <p:nvSpPr>
          <p:cNvPr id="4" name="Rounded Rectangle 4"/>
          <p:cNvSpPr/>
          <p:nvPr/>
        </p:nvSpPr>
        <p:spPr>
          <a:xfrm>
            <a:off x="1524000" y="4688840"/>
            <a:ext cx="914400" cy="1280160"/>
          </a:xfrm>
          <a:prstGeom prst="roundRect">
            <a:avLst>
              <a:gd name="adj" fmla="val 12000"/>
            </a:avLst>
          </a:prstGeom>
          <a:solidFill>
            <a:srgbClr val="5B5FE8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46200" y="425704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42k</a:t>
            </a:r>
            <a:endParaRPr sz="1800" b="1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46200" y="607060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dirty="0">
                <a:solidFill>
                  <a:srgbClr val="6B7280"/>
                </a:solidFill>
                <a:latin typeface="Roboto"/>
                <a:cs typeface="Roboto"/>
              </a:rPr>
              <a:t>Week 1</a:t>
            </a:r>
            <a:endParaRPr sz="1400" b="0" i="0" u="none" strike="noStrike" dirty="0">
              <a:solidFill>
                <a:srgbClr val="6B7280"/>
              </a:solidFill>
              <a:latin typeface="Roboto"/>
              <a:cs typeface="Roboto"/>
            </a:endParaRPr>
          </a:p>
        </p:txBody>
      </p:sp>
      <p:sp>
        <p:nvSpPr>
          <p:cNvPr id="7" name="Rounded Rectangle 7"/>
          <p:cNvSpPr/>
          <p:nvPr/>
        </p:nvSpPr>
        <p:spPr>
          <a:xfrm>
            <a:off x="3111500" y="4201160"/>
            <a:ext cx="914400" cy="1767840"/>
          </a:xfrm>
          <a:prstGeom prst="roundRect">
            <a:avLst>
              <a:gd name="adj" fmla="val 12000"/>
            </a:avLst>
          </a:prstGeom>
          <a:solidFill>
            <a:srgbClr val="5B5FE8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933700" y="376936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58k</a:t>
            </a:r>
            <a:endParaRPr sz="1800" b="1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933700" y="607060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dirty="0">
                <a:solidFill>
                  <a:srgbClr val="6B7280"/>
                </a:solidFill>
                <a:latin typeface="Roboto"/>
                <a:cs typeface="Roboto"/>
              </a:rPr>
              <a:t>Week 2</a:t>
            </a:r>
            <a:endParaRPr sz="1400" b="0" i="0" u="none" strike="noStrike" dirty="0">
              <a:solidFill>
                <a:srgbClr val="6B7280"/>
              </a:solidFill>
              <a:latin typeface="Roboto"/>
              <a:cs typeface="Roboto"/>
            </a:endParaRPr>
          </a:p>
        </p:txBody>
      </p:sp>
      <p:sp>
        <p:nvSpPr>
          <p:cNvPr id="10" name="Rounded Rectangle 10"/>
          <p:cNvSpPr/>
          <p:nvPr/>
        </p:nvSpPr>
        <p:spPr>
          <a:xfrm>
            <a:off x="4699000" y="3804920"/>
            <a:ext cx="914400" cy="2164080"/>
          </a:xfrm>
          <a:prstGeom prst="roundRect">
            <a:avLst>
              <a:gd name="adj" fmla="val 12000"/>
            </a:avLst>
          </a:prstGeom>
          <a:solidFill>
            <a:srgbClr val="5B5FE8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521200" y="337312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71k</a:t>
            </a:r>
            <a:endParaRPr sz="1800" b="1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521200" y="607060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dirty="0">
                <a:solidFill>
                  <a:srgbClr val="6B7280"/>
                </a:solidFill>
                <a:latin typeface="Roboto"/>
                <a:cs typeface="Roboto"/>
              </a:rPr>
              <a:t>Week 3</a:t>
            </a:r>
            <a:endParaRPr sz="1400" b="0" i="0" u="none" strike="noStrike" dirty="0">
              <a:solidFill>
                <a:srgbClr val="6B7280"/>
              </a:solidFill>
              <a:latin typeface="Roboto"/>
              <a:cs typeface="Roboto"/>
            </a:endParaRPr>
          </a:p>
        </p:txBody>
      </p:sp>
      <p:sp>
        <p:nvSpPr>
          <p:cNvPr id="13" name="Rounded Rectangle 13"/>
          <p:cNvSpPr/>
          <p:nvPr/>
        </p:nvSpPr>
        <p:spPr>
          <a:xfrm>
            <a:off x="6286500" y="3347720"/>
            <a:ext cx="914400" cy="2621280"/>
          </a:xfrm>
          <a:prstGeom prst="roundRect">
            <a:avLst>
              <a:gd name="adj" fmla="val 12000"/>
            </a:avLst>
          </a:prstGeom>
          <a:solidFill>
            <a:srgbClr val="5B5FE8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108700" y="291592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86k</a:t>
            </a:r>
            <a:endParaRPr sz="1800" b="1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08700" y="607060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dirty="0">
                <a:solidFill>
                  <a:srgbClr val="6B7280"/>
                </a:solidFill>
                <a:latin typeface="Roboto"/>
                <a:cs typeface="Roboto"/>
              </a:rPr>
              <a:t>Week 4</a:t>
            </a:r>
            <a:endParaRPr sz="1400" b="0" i="0" u="none" strike="noStrike" dirty="0">
              <a:solidFill>
                <a:srgbClr val="6B7280"/>
              </a:solidFill>
              <a:latin typeface="Roboto"/>
              <a:cs typeface="Roboto"/>
            </a:endParaRPr>
          </a:p>
        </p:txBody>
      </p:sp>
      <p:sp>
        <p:nvSpPr>
          <p:cNvPr id="16" name="Rounded Rectangle 16"/>
          <p:cNvSpPr/>
          <p:nvPr/>
        </p:nvSpPr>
        <p:spPr>
          <a:xfrm>
            <a:off x="7874000" y="2799080"/>
            <a:ext cx="914400" cy="3169920"/>
          </a:xfrm>
          <a:prstGeom prst="roundRect">
            <a:avLst>
              <a:gd name="adj" fmla="val 12000"/>
            </a:avLst>
          </a:prstGeom>
          <a:solidFill>
            <a:srgbClr val="5B5FE8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96200" y="236728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104k</a:t>
            </a:r>
            <a:endParaRPr sz="1800" b="1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696200" y="607060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dirty="0">
                <a:solidFill>
                  <a:srgbClr val="6B7280"/>
                </a:solidFill>
                <a:latin typeface="Roboto"/>
                <a:cs typeface="Roboto"/>
              </a:rPr>
              <a:t>Week 5</a:t>
            </a:r>
            <a:endParaRPr sz="1400" b="0" i="0" u="none" strike="noStrike" dirty="0">
              <a:solidFill>
                <a:srgbClr val="6B7280"/>
              </a:solidFill>
              <a:latin typeface="Roboto"/>
              <a:cs typeface="Roboto"/>
            </a:endParaRPr>
          </a:p>
        </p:txBody>
      </p:sp>
      <p:sp>
        <p:nvSpPr>
          <p:cNvPr id="19" name="Rounded Rectangle 19"/>
          <p:cNvSpPr/>
          <p:nvPr/>
        </p:nvSpPr>
        <p:spPr>
          <a:xfrm>
            <a:off x="9461500" y="1976120"/>
            <a:ext cx="914400" cy="3992880"/>
          </a:xfrm>
          <a:prstGeom prst="roundRect">
            <a:avLst>
              <a:gd name="adj" fmla="val 12000"/>
            </a:avLst>
          </a:prstGeom>
          <a:solidFill>
            <a:srgbClr val="FF8A3D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83700" y="154432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131k</a:t>
            </a:r>
            <a:endParaRPr sz="1800" b="1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83700" y="6070600"/>
            <a:ext cx="127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dirty="0">
                <a:solidFill>
                  <a:srgbClr val="6B7280"/>
                </a:solidFill>
                <a:latin typeface="Roboto"/>
                <a:cs typeface="Roboto"/>
              </a:rPr>
              <a:t>Week 6</a:t>
            </a:r>
            <a:endParaRPr sz="1400" b="0" i="0" u="none" strike="noStrike" dirty="0">
              <a:solidFill>
                <a:srgbClr val="6B7280"/>
              </a:solidFill>
              <a:latin typeface="Roboto"/>
              <a:cs typeface="Roboto"/>
            </a:endParaRPr>
          </a:p>
        </p:txBody>
      </p:sp>
      <p:cxnSp>
        <p:nvCxnSpPr>
          <p:cNvPr id="22" name="Line 22"/>
          <p:cNvCxnSpPr/>
          <p:nvPr/>
        </p:nvCxnSpPr>
        <p:spPr>
          <a:xfrm>
            <a:off x="1219200" y="5969000"/>
            <a:ext cx="9753600" cy="0"/>
          </a:xfrm>
          <a:prstGeom prst="line">
            <a:avLst/>
          </a:prstGeom>
          <a:ln w="19050">
            <a:solidFill>
              <a:srgbClr val="D1D5DB"/>
            </a:solidFill>
            <a:prstDash val="soli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2800" y="609600"/>
            <a:ext cx="8890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 strike="noStrike" dirty="0">
                <a:solidFill>
                  <a:srgbClr val="1F2433"/>
                </a:solidFill>
                <a:latin typeface="Roboto"/>
                <a:cs typeface="Roboto"/>
              </a:rPr>
              <a:t>Release checklist</a:t>
            </a:r>
            <a:endParaRPr sz="3800" b="1" i="0" u="none" strike="noStrike" dirty="0">
              <a:solidFill>
                <a:srgbClr val="1F2433"/>
              </a:solidFill>
              <a:latin typeface="Roboto"/>
              <a:cs typeface="Roboto"/>
            </a:endParaRPr>
          </a:p>
        </p:txBody>
      </p:sp>
      <p:graphicFrame>
        <p:nvGraphicFramePr>
          <p:cNvPr id="3" name="Table 3"/>
          <p:cNvGraphicFramePr/>
          <p:nvPr/>
        </p:nvGraphicFramePr>
        <p:xfrm>
          <a:off x="812800" y="1778000"/>
          <a:ext cx="10566400" cy="3810000"/>
        </p:xfrm>
        <a:graphic>
          <a:graphicData uri="http://schemas.openxmlformats.org/drawingml/2006/table">
            <a:tbl>
              <a:tblPr firstRow="1" bandRow="1"/>
              <a:tblGrid>
                <a:gridCol w="3522133"/>
                <a:gridCol w="3522133"/>
                <a:gridCol w="3522133"/>
              </a:tblGrid>
              <a:tr h="762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i="0" u="none" strike="noStrike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Area</a:t>
                      </a:r>
                      <a:endParaRPr sz="1800" b="1" i="0" u="none" strike="noStrike" dirty="0">
                        <a:solidFill>
                          <a:srgbClr val="FFFFFF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5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i="0" u="none" strike="noStrike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Owner</a:t>
                      </a:r>
                      <a:endParaRPr sz="1800" b="1" i="0" u="none" strike="noStrike" dirty="0">
                        <a:solidFill>
                          <a:srgbClr val="FFFFFF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5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i="0" u="none" strike="noStrike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Status</a:t>
                      </a:r>
                      <a:endParaRPr sz="1800" b="1" i="0" u="none" strike="noStrike" dirty="0">
                        <a:solidFill>
                          <a:srgbClr val="FFFFFF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5FE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1F2433"/>
                          </a:solidFill>
                          <a:latin typeface="Roboto"/>
                          <a:cs typeface="Roboto"/>
                        </a:rPr>
                        <a:t>Sync engine</a:t>
                      </a:r>
                      <a:endParaRPr sz="1800" b="0" i="0" u="none" strike="noStrike" dirty="0">
                        <a:solidFill>
                          <a:srgbClr val="1F2433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1F2433"/>
                          </a:solidFill>
                          <a:latin typeface="Roboto"/>
                          <a:cs typeface="Roboto"/>
                        </a:rPr>
                        <a:t>Maya</a:t>
                      </a:r>
                      <a:endParaRPr sz="1800" b="0" i="0" u="none" strike="noStrike" dirty="0">
                        <a:solidFill>
                          <a:srgbClr val="1F2433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16A34A"/>
                          </a:solidFill>
                          <a:latin typeface="Roboto"/>
                          <a:cs typeface="Roboto"/>
                        </a:rPr>
                        <a:t>Shipped</a:t>
                      </a:r>
                      <a:endParaRPr sz="1800" b="0" i="0" u="none" strike="noStrike" dirty="0">
                        <a:solidFill>
                          <a:srgbClr val="16A34A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0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1F2433"/>
                          </a:solidFill>
                          <a:latin typeface="Roboto"/>
                          <a:cs typeface="Roboto"/>
                        </a:rPr>
                        <a:t>Widgets</a:t>
                      </a:r>
                      <a:endParaRPr sz="1800" b="0" i="0" u="none" strike="noStrike" dirty="0">
                        <a:solidFill>
                          <a:srgbClr val="1F2433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1F2433"/>
                          </a:solidFill>
                          <a:latin typeface="Roboto"/>
                          <a:cs typeface="Roboto"/>
                        </a:rPr>
                        <a:t>Jonas</a:t>
                      </a:r>
                      <a:endParaRPr sz="1800" b="0" i="0" u="none" strike="noStrike" dirty="0">
                        <a:solidFill>
                          <a:srgbClr val="1F2433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16A34A"/>
                          </a:solidFill>
                          <a:latin typeface="Roboto"/>
                          <a:cs typeface="Roboto"/>
                        </a:rPr>
                        <a:t>Shipped</a:t>
                      </a:r>
                      <a:endParaRPr sz="1800" b="0" i="0" u="none" strike="noStrike" dirty="0">
                        <a:solidFill>
                          <a:srgbClr val="16A34A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1F2433"/>
                          </a:solidFill>
                          <a:latin typeface="Roboto"/>
                          <a:cs typeface="Roboto"/>
                        </a:rPr>
                        <a:t>Alerts (EU)</a:t>
                      </a:r>
                      <a:endParaRPr sz="1800" b="0" i="0" u="none" strike="noStrike" dirty="0">
                        <a:solidFill>
                          <a:srgbClr val="1F2433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1F2433"/>
                          </a:solidFill>
                          <a:latin typeface="Roboto"/>
                          <a:cs typeface="Roboto"/>
                        </a:rPr>
                        <a:t>Priya</a:t>
                      </a:r>
                      <a:endParaRPr sz="1800" b="0" i="0" u="none" strike="noStrike" dirty="0">
                        <a:solidFill>
                          <a:srgbClr val="1F2433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FF8A3D"/>
                          </a:solidFill>
                          <a:latin typeface="Roboto"/>
                          <a:cs typeface="Roboto"/>
                        </a:rPr>
                        <a:t>Rolling out</a:t>
                      </a:r>
                      <a:endParaRPr sz="1800" b="0" i="0" u="none" strike="noStrike" dirty="0">
                        <a:solidFill>
                          <a:srgbClr val="FF8A3D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0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1F2433"/>
                          </a:solidFill>
                          <a:latin typeface="Roboto"/>
                          <a:cs typeface="Roboto"/>
                        </a:rPr>
                        <a:t>Android tablet layout</a:t>
                      </a:r>
                      <a:endParaRPr sz="1800" b="0" i="0" u="none" strike="noStrike" dirty="0">
                        <a:solidFill>
                          <a:srgbClr val="1F2433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1F2433"/>
                          </a:solidFill>
                          <a:latin typeface="Roboto"/>
                          <a:cs typeface="Roboto"/>
                        </a:rPr>
                        <a:t>Sam</a:t>
                      </a:r>
                      <a:endParaRPr sz="1800" b="0" i="0" u="none" strike="noStrike" dirty="0">
                        <a:solidFill>
                          <a:srgbClr val="1F2433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 strike="noStrike" dirty="0">
                          <a:solidFill>
                            <a:srgbClr val="6B7280"/>
                          </a:solidFill>
                          <a:latin typeface="Roboto"/>
                          <a:cs typeface="Roboto"/>
                        </a:rPr>
                        <a:t>Next sprint</a:t>
                      </a:r>
                      <a:endParaRPr sz="1800" b="0" i="0" u="none" strike="noStrike" dirty="0">
                        <a:solidFill>
                          <a:srgbClr val="6B7280"/>
                        </a:solidFill>
                        <a:latin typeface="Roboto"/>
                        <a:cs typeface="Roboto"/>
                      </a:endParaRPr>
                    </a:p>
                  </a:txBody>
                  <a:tcPr marL="177800" marR="177800" marT="76200" marB="762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/>
          <p:nvPr/>
        </p:nvSpPr>
        <p:spPr>
          <a:xfrm>
            <a:off x="-1524000" y="3810000"/>
            <a:ext cx="4826000" cy="4826000"/>
          </a:xfrm>
          <a:prstGeom prst="ellipse">
            <a:avLst/>
          </a:prstGeom>
          <a:solidFill>
            <a:srgbClr val="5B5FE8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3" name="Oval 3"/>
          <p:cNvSpPr/>
          <p:nvPr/>
        </p:nvSpPr>
        <p:spPr>
          <a:xfrm>
            <a:off x="9906000" y="-1016000"/>
            <a:ext cx="3302000" cy="3302000"/>
          </a:xfrm>
          <a:prstGeom prst="ellipse">
            <a:avLst/>
          </a:prstGeom>
          <a:solidFill>
            <a:srgbClr val="FF8A3D"/>
          </a:solidFill>
          <a:ln w="12700">
            <a:noFill/>
            <a:prstDash val="solid"/>
          </a:ln>
        </p:spPr>
        <p:txBody>
          <a:bodyPr lIns="91440" tIns="45720" rIns="91440" bIns="45720" anchor="ctr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2pPr>
            <a:lvl3pPr marL="914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3pPr>
            <a:lvl4pPr marL="1371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4pPr>
            <a:lvl5pPr marL="18288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5pPr>
            <a:lvl6pPr marL="22860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6pPr>
            <a:lvl7pPr marL="27432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7pPr>
            <a:lvl8pPr marL="32004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8pPr>
            <a:lvl9pPr marL="36576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FFFFFF"/>
                </a:solidFill>
                <a:latin typeface="Calibri"/>
                <a:cs typeface="Calibri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032000" y="2413000"/>
            <a:ext cx="8128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400" b="1" i="0" u="none" strike="noStrike" dirty="0">
                <a:solidFill>
                  <a:srgbClr val="FFFFFF"/>
                </a:solidFill>
                <a:latin typeface="Roboto"/>
                <a:cs typeface="Roboto"/>
              </a:rPr>
              <a:t>Thank you</a:t>
            </a:r>
            <a:endParaRPr sz="6400" b="1" i="0" u="none" strike="noStrike" dirty="0">
              <a:solidFill>
                <a:srgbClr val="FFFFFF"/>
              </a:solidFill>
              <a:latin typeface="Roboto"/>
              <a:cs typeface="Robot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32000" y="3683000"/>
            <a:ext cx="8128000" cy="37084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1440" tIns="45720" rIns="91440" bIns="45720" anchor="t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dirty="0">
                <a:solidFill>
                  <a:srgbClr val="000000"/>
                </a:solidFill>
                <a:latin typeface="Roboto"/>
                <a:cs typeface="Roboto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 strike="noStrike" dirty="0">
                <a:solidFill>
                  <a:srgbClr val="A5B4FC"/>
                </a:solidFill>
                <a:latin typeface="Roboto"/>
                <a:cs typeface="Roboto"/>
              </a:rPr>
              <a:t>Questions? aurora-team@example.com</a:t>
            </a:r>
            <a:endParaRPr sz="2200" b="0" i="0" u="none" strike="noStrike" dirty="0">
              <a:solidFill>
                <a:srgbClr val="A5B4FC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odium">
  <a:themeElements>
    <a:clrScheme name="Podium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F97316"/>
      </a:accent2>
      <a:accent3>
        <a:srgbClr val="16A34A"/>
      </a:accent3>
      <a:accent4>
        <a:srgbClr val="9333EA"/>
      </a:accent4>
      <a:accent5>
        <a:srgbClr val="0891B2"/>
      </a:accent5>
      <a:accent6>
        <a:srgbClr val="DC2626"/>
      </a:accent6>
      <a:hlink>
        <a:srgbClr val="2563EB"/>
      </a:hlink>
      <a:folHlink>
        <a:srgbClr val="7C3AED"/>
      </a:folHlink>
    </a:clrScheme>
    <a:fontScheme name="Podium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odium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odium">
  <a:themeElements>
    <a:clrScheme name="Podium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F97316"/>
      </a:accent2>
      <a:accent3>
        <a:srgbClr val="16A34A"/>
      </a:accent3>
      <a:accent4>
        <a:srgbClr val="9333EA"/>
      </a:accent4>
      <a:accent5>
        <a:srgbClr val="0891B2"/>
      </a:accent5>
      <a:accent6>
        <a:srgbClr val="DC2626"/>
      </a:accent6>
      <a:hlink>
        <a:srgbClr val="2563EB"/>
      </a:hlink>
      <a:folHlink>
        <a:srgbClr val="7C3AED"/>
      </a:folHlink>
    </a:clrScheme>
    <a:fontScheme name="Podium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odium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Podium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Podium</dc:creator>
</cp:coreProperties>
</file>